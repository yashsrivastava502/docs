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Cloud Infrastructure &amp; Automation</a:t>
            </a:r>
          </a:p>
          <a:p>
            <a:r>
              <a:t>Team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Mission, Achievements, Architecture, Projects &amp; FY2025 Roadmap</a:t>
            </a:r>
          </a:p>
          <a:p/>
          <a:p>
            <a:r>
              <a:t>Cloud &amp; Automation Team – Fareportal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A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Prepared by: Cloud &amp; Automation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Mission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Mission: Build a resilient, automated, and scalable infrastructure ecosystem that accelerates innovation and operational efficiency.</a:t>
            </a:r>
          </a:p>
          <a:p>
            <a:pPr algn="l">
              <a:defRPr sz="1800">
                <a:latin typeface="Calibri"/>
              </a:defRPr>
            </a:pPr>
            <a:r>
              <a:t>Vision: Achieve a self-healing, cost-efficient, and fully automated hybrid infrastructure supporting business continuity and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Team Overview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Streamline infrastructure operations across cloud &amp; on-prem through automation and observability.</a:t>
            </a:r>
          </a:p>
          <a:p>
            <a:pPr algn="l">
              <a:defRPr sz="1800">
                <a:latin typeface="Calibri"/>
              </a:defRPr>
            </a:pPr>
            <a:r>
              <a:t>Core Functions:</a:t>
            </a:r>
          </a:p>
          <a:p>
            <a:pPr algn="l">
              <a:defRPr sz="1800">
                <a:latin typeface="Calibri"/>
              </a:defRPr>
            </a:pPr>
            <a:r>
              <a:t>• Cloud &amp; On-Prem Provisioning  • Network &amp; Storage Automation  • Monitoring &amp; Observability</a:t>
            </a:r>
          </a:p>
          <a:p>
            <a:pPr algn="l">
              <a:defRPr sz="1800">
                <a:latin typeface="Calibri"/>
              </a:defRPr>
            </a:pPr>
            <a:r>
              <a:t>• Disaster Recovery &amp; Business Continuity  • FinOps &amp; Cost Optimization  • Cross-Functional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Key Achievements (Snapshot)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95% provisioning automated via Terraform &amp; Ansible</a:t>
            </a:r>
          </a:p>
          <a:p>
            <a:pPr algn="l">
              <a:defRPr sz="1800">
                <a:latin typeface="Calibri"/>
              </a:defRPr>
            </a:pPr>
            <a:r>
              <a:t>80% reduction in manual monitoring effort</a:t>
            </a:r>
          </a:p>
          <a:p>
            <a:pPr algn="l">
              <a:defRPr sz="1800">
                <a:latin typeface="Calibri"/>
              </a:defRPr>
            </a:pPr>
            <a:r>
              <a:t>40% faster server builds using Golden Image pipeline</a:t>
            </a:r>
          </a:p>
          <a:p>
            <a:pPr algn="l">
              <a:defRPr sz="1800">
                <a:latin typeface="Calibri"/>
              </a:defRPr>
            </a:pPr>
            <a:r>
              <a:t>Zero critical downtime after DR Phase 2</a:t>
            </a:r>
          </a:p>
          <a:p>
            <a:pPr algn="l">
              <a:defRPr sz="1800">
                <a:latin typeface="Calibri"/>
              </a:defRPr>
            </a:pPr>
            <a:r>
              <a:t>$X annual cost savings via FinOps initiatives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Cloud Vertical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Automation &amp; Scalability: On-demand provisioning with IaC (Terraform, Ansible)</a:t>
            </a:r>
          </a:p>
          <a:p>
            <a:pPr algn="l">
              <a:defRPr sz="1800">
                <a:latin typeface="Calibri"/>
              </a:defRPr>
            </a:pPr>
            <a:r>
              <a:t>Disaster Recovery: Azure Site Recovery (ASR) &amp; multi-region replication</a:t>
            </a:r>
          </a:p>
          <a:p>
            <a:pPr algn="l">
              <a:defRPr sz="1800">
                <a:latin typeface="Calibri"/>
              </a:defRPr>
            </a:pPr>
            <a:r>
              <a:t>FinOps: Automated cost tracking, right-sizing, and scheduling</a:t>
            </a:r>
          </a:p>
          <a:p>
            <a:pPr algn="l">
              <a:defRPr sz="1800">
                <a:latin typeface="Calibri"/>
              </a:defRPr>
            </a:pPr>
            <a:r>
              <a:t>Cross-functional collaboration with App, Network, and Infosec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On-Premises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Ansible-based configuration enforcement &amp; automated monitoring</a:t>
            </a:r>
          </a:p>
          <a:p>
            <a:pPr algn="l">
              <a:defRPr sz="1800">
                <a:latin typeface="Calibri"/>
              </a:defRPr>
            </a:pPr>
            <a:r>
              <a:t>Regular automated firmware upgrades for ESXi blades</a:t>
            </a:r>
          </a:p>
          <a:p>
            <a:pPr algn="l">
              <a:defRPr sz="1800">
                <a:latin typeface="Calibri"/>
              </a:defRPr>
            </a:pPr>
            <a:r>
              <a:t>Automated storage provisioning, monitoring, and replication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Network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Firewall config, backups, and change management automated via Ansible</a:t>
            </a:r>
          </a:p>
          <a:p>
            <a:pPr algn="l">
              <a:defRPr sz="1800">
                <a:latin typeface="Calibri"/>
              </a:defRPr>
            </a:pPr>
            <a:r>
              <a:t>Reusable templates for create/update/delete actions</a:t>
            </a:r>
          </a:p>
          <a:p>
            <a:pPr algn="l">
              <a:defRPr sz="1800">
                <a:latin typeface="Calibri"/>
              </a:defRPr>
            </a:pPr>
            <a:r>
              <a:t>Automated auditing &amp; compliance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Major Projects (Last 2 Quarters)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DR Phase 2: ASR implementation, DNS replication, Golden Image</a:t>
            </a:r>
          </a:p>
          <a:p>
            <a:pPr algn="l">
              <a:defRPr sz="1800">
                <a:latin typeface="Calibri"/>
              </a:defRPr>
            </a:pPr>
            <a:r>
              <a:t>Monitor Everything: Centralized alert ingestion &amp; dashboards</a:t>
            </a:r>
          </a:p>
          <a:p>
            <a:pPr algn="l">
              <a:defRPr sz="1800">
                <a:latin typeface="Calibri"/>
              </a:defRPr>
            </a:pPr>
            <a:r>
              <a:t>Storage Health Screenshot Automation: automated reporting</a:t>
            </a:r>
          </a:p>
          <a:p>
            <a:pPr algn="l">
              <a:defRPr sz="1800">
                <a:latin typeface="Calibri"/>
              </a:defRPr>
            </a:pPr>
            <a:r>
              <a:t>IP Request Tool: Automated resource request &amp; approval workflows</a:t>
            </a:r>
          </a:p>
          <a:p>
            <a:pPr algn="l">
              <a:defRPr sz="1800">
                <a:latin typeface="Calibri"/>
              </a:defRPr>
            </a:pPr>
            <a:r>
              <a:t>Cloud Provisioning Automation: Terraform + Ansible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Automation Architecture (Visual)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Inputs: Logs (Splunk, Prometheus), API requests, Alerts</a:t>
            </a:r>
          </a:p>
          <a:p>
            <a:pPr algn="l">
              <a:defRPr sz="1800">
                <a:latin typeface="Calibri"/>
              </a:defRPr>
            </a:pPr>
            <a:r>
              <a:t>Processing: Terraform, Ansible, Python workflows, Azure CLI</a:t>
            </a:r>
          </a:p>
          <a:p>
            <a:pPr algn="l">
              <a:defRPr sz="1800">
                <a:latin typeface="Calibri"/>
              </a:defRPr>
            </a:pPr>
            <a:r>
              <a:t>Outputs: Dashboards, Email reports, Deployed infrastructure &amp;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Security &amp; Compliance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Automated patching and compliance validation</a:t>
            </a:r>
          </a:p>
          <a:p>
            <a:pPr algn="l">
              <a:defRPr sz="1800">
                <a:latin typeface="Calibri"/>
              </a:defRPr>
            </a:pPr>
            <a:r>
              <a:t>Golden images include approved antivirus &amp; baseline configs</a:t>
            </a:r>
          </a:p>
          <a:p>
            <a:pPr algn="l">
              <a:defRPr sz="1800">
                <a:latin typeface="Calibri"/>
              </a:defRPr>
            </a:pPr>
            <a:r>
              <a:t>Automated vulnerability scanning integration with Infosec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Cross-Team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DevOps: CI/CD &amp; infra provisioning integration</a:t>
            </a:r>
          </a:p>
          <a:p>
            <a:pPr algn="l">
              <a:defRPr sz="1800">
                <a:latin typeface="Calibri"/>
              </a:defRPr>
            </a:pPr>
            <a:r>
              <a:t>Network: Firewall &amp; routing automation</a:t>
            </a:r>
          </a:p>
          <a:p>
            <a:pPr algn="l">
              <a:defRPr sz="1800">
                <a:latin typeface="Calibri"/>
              </a:defRPr>
            </a:pPr>
            <a:r>
              <a:t>Data Science: IP &amp; resource provisioning workflows</a:t>
            </a:r>
          </a:p>
          <a:p>
            <a:pPr algn="l">
              <a:defRPr sz="1800">
                <a:latin typeface="Calibri"/>
              </a:defRPr>
            </a:pPr>
            <a:r>
              <a:t>Infosec: Compliance &amp; vulnerability automation</a:t>
            </a:r>
          </a:p>
          <a:p>
            <a:pPr algn="l">
              <a:defRPr sz="1800">
                <a:latin typeface="Calibri"/>
              </a:defRPr>
            </a:pPr>
            <a:r>
              <a:t>IT Support: Self-service portal &amp; automation backends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Tech Stack (One-Glance)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IaC: Terraform, Ansible</a:t>
            </a:r>
          </a:p>
          <a:p>
            <a:pPr algn="l">
              <a:defRPr sz="1800">
                <a:latin typeface="Calibri"/>
              </a:defRPr>
            </a:pPr>
            <a:r>
              <a:t>Monitoring: Prometheus, Splunk, Power BI</a:t>
            </a:r>
          </a:p>
          <a:p>
            <a:pPr algn="l">
              <a:defRPr sz="1800">
                <a:latin typeface="Calibri"/>
              </a:defRPr>
            </a:pPr>
            <a:r>
              <a:t>Cloud: Azure CLI / Azure Portal</a:t>
            </a:r>
          </a:p>
          <a:p>
            <a:pPr algn="l">
              <a:defRPr sz="1800">
                <a:latin typeface="Calibri"/>
              </a:defRPr>
            </a:pPr>
            <a:r>
              <a:t>Automation: Python, PowerShell, Bash</a:t>
            </a:r>
          </a:p>
          <a:p>
            <a:pPr algn="l">
              <a:defRPr sz="1800">
                <a:latin typeface="Calibri"/>
              </a:defRPr>
            </a:pPr>
            <a:r>
              <a:t>Storage: Hitachi APIs &amp; custom scripts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Scaling Ansible across hybrid infra -&gt; centralized inventory &amp; vault</a:t>
            </a:r>
          </a:p>
          <a:p>
            <a:pPr algn="l">
              <a:defRPr sz="1800">
                <a:latin typeface="Calibri"/>
              </a:defRPr>
            </a:pPr>
            <a:r>
              <a:t>Multiple monitoring tools -&gt; unified ingestion via Logstash</a:t>
            </a:r>
          </a:p>
          <a:p>
            <a:pPr algn="l">
              <a:defRPr sz="1800">
                <a:latin typeface="Calibri"/>
              </a:defRPr>
            </a:pPr>
            <a:r>
              <a:t>Manual DR tests -&gt; automated failover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Innovation &amp; Future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AI-driven anomaly detection &amp; monitoring</a:t>
            </a:r>
          </a:p>
          <a:p>
            <a:pPr algn="l">
              <a:defRPr sz="1800">
                <a:latin typeface="Calibri"/>
              </a:defRPr>
            </a:pPr>
            <a:r>
              <a:t>GitOps for infra changes and deployment consistency</a:t>
            </a:r>
          </a:p>
          <a:p>
            <a:pPr algn="l">
              <a:defRPr sz="1800">
                <a:latin typeface="Calibri"/>
              </a:defRPr>
            </a:pPr>
            <a:r>
              <a:t>Kubernetes automation &amp; containerized workloads</a:t>
            </a:r>
          </a:p>
          <a:p>
            <a:pPr algn="l">
              <a:defRPr sz="1800">
                <a:latin typeface="Calibri"/>
              </a:defRPr>
            </a:pPr>
            <a:r>
              <a:t>Predictive FinOps using ML-based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FY2025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Q1: DR Phase 3 – advanced failover automation</a:t>
            </a:r>
          </a:p>
          <a:p>
            <a:pPr algn="l">
              <a:defRPr sz="1800">
                <a:latin typeface="Calibri"/>
              </a:defRPr>
            </a:pPr>
            <a:r>
              <a:t>Q2: Hybrid Cloud Migration – 10:10 traffic model rollout</a:t>
            </a:r>
          </a:p>
          <a:p>
            <a:pPr algn="l">
              <a:defRPr sz="1800">
                <a:latin typeface="Calibri"/>
              </a:defRPr>
            </a:pPr>
            <a:r>
              <a:t>Q3: FinOps Dashboard – real-time cost insights</a:t>
            </a:r>
          </a:p>
          <a:p>
            <a:pPr algn="l">
              <a:defRPr sz="1800">
                <a:latin typeface="Calibri"/>
              </a:defRPr>
            </a:pPr>
            <a:r>
              <a:t>Q4: Expand automation coverage to storage &amp; security workflows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Team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Team Lead – Cloud &amp; Automation</a:t>
            </a:r>
          </a:p>
          <a:p>
            <a:pPr algn="l">
              <a:defRPr sz="1800">
                <a:latin typeface="Calibri"/>
              </a:defRPr>
            </a:pPr>
            <a:r>
              <a:t>Infra Automation Engineer</a:t>
            </a:r>
          </a:p>
          <a:p>
            <a:pPr algn="l">
              <a:defRPr sz="1800">
                <a:latin typeface="Calibri"/>
              </a:defRPr>
            </a:pPr>
            <a:r>
              <a:t>Network Automation Engineer</a:t>
            </a:r>
          </a:p>
          <a:p>
            <a:pPr algn="l">
              <a:defRPr sz="1800">
                <a:latin typeface="Calibri"/>
              </a:defRPr>
            </a:pPr>
            <a:r>
              <a:t>Observability &amp; DR Specialist</a:t>
            </a:r>
          </a:p>
          <a:p>
            <a:pPr algn="l">
              <a:defRPr sz="1800">
                <a:latin typeface="Calibri"/>
              </a:defRPr>
            </a:pPr>
            <a:r>
              <a:t>Cloud Cost Analyst (FinOps)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Calibri"/>
              </a:defRPr>
            </a:pPr>
            <a:r>
              <a:t>Closing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>
                <a:latin typeface="Calibri"/>
              </a:defRPr>
            </a:pPr>
            <a:r>
              <a:t>Unified automation ecosystem driving efficiency &amp; reliability</a:t>
            </a:r>
          </a:p>
          <a:p>
            <a:pPr algn="l">
              <a:defRPr sz="1800">
                <a:latin typeface="Calibri"/>
              </a:defRPr>
            </a:pPr>
            <a:r>
              <a:t>Robust DR capabilities with hybrid cloud integration</a:t>
            </a:r>
          </a:p>
          <a:p>
            <a:pPr algn="l">
              <a:defRPr sz="1800">
                <a:latin typeface="Calibri"/>
              </a:defRPr>
            </a:pPr>
            <a:r>
              <a:t>Continuous innovation towards AI-driven automation</a:t>
            </a:r>
          </a:p>
          <a:p>
            <a:pPr algn="l">
              <a:defRPr sz="1800">
                <a:latin typeface="Calibri"/>
              </a:defRPr>
            </a:pPr>
            <a:r>
              <a:t>Thank You – Cloud &amp; Automation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